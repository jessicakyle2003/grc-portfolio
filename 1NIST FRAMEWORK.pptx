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Unbounded SemiBold"/>
      <p:regular r:id="rId18"/>
      <p:bold r:id="rId19"/>
    </p:embeddedFont>
    <p:embeddedFont>
      <p:font typeface="Hanken Grotesk"/>
      <p:regular r:id="rId20"/>
      <p:bold r:id="rId21"/>
      <p:italic r:id="rId22"/>
      <p:boldItalic r:id="rId23"/>
    </p:embeddedFont>
    <p:embeddedFont>
      <p:font typeface="Unbounded Black"/>
      <p:bold r:id="rId24"/>
    </p:embeddedFont>
    <p:embeddedFont>
      <p:font typeface="Unbounded Light"/>
      <p:regular r:id="rId25"/>
      <p:bold r:id="rId26"/>
    </p:embeddedFont>
    <p:embeddedFont>
      <p:font typeface="Unbounded ExtraBold"/>
      <p:bold r:id="rId27"/>
    </p:embeddedFont>
    <p:embeddedFont>
      <p:font typeface="Open Sans"/>
      <p:regular r:id="rId28"/>
      <p:bold r:id="rId29"/>
      <p:italic r:id="rId30"/>
      <p:boldItalic r:id="rId31"/>
    </p:embeddedFont>
    <p:embeddedFont>
      <p:font typeface="Unbounded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ankenGrotesk-regular.fntdata"/><Relationship Id="rId22" Type="http://schemas.openxmlformats.org/officeDocument/2006/relationships/font" Target="fonts/HankenGrotesk-italic.fntdata"/><Relationship Id="rId21" Type="http://schemas.openxmlformats.org/officeDocument/2006/relationships/font" Target="fonts/HankenGrotesk-bold.fntdata"/><Relationship Id="rId24" Type="http://schemas.openxmlformats.org/officeDocument/2006/relationships/font" Target="fonts/UnboundedBlack-bold.fntdata"/><Relationship Id="rId23" Type="http://schemas.openxmlformats.org/officeDocument/2006/relationships/font" Target="fonts/HankenGrotesk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UnboundedLight-bold.fntdata"/><Relationship Id="rId25" Type="http://schemas.openxmlformats.org/officeDocument/2006/relationships/font" Target="fonts/UnboundedLight-regular.fntdata"/><Relationship Id="rId28" Type="http://schemas.openxmlformats.org/officeDocument/2006/relationships/font" Target="fonts/OpenSans-regular.fntdata"/><Relationship Id="rId27" Type="http://schemas.openxmlformats.org/officeDocument/2006/relationships/font" Target="fonts/UnboundedExtraBol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pen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7.xml"/><Relationship Id="rId33" Type="http://schemas.openxmlformats.org/officeDocument/2006/relationships/font" Target="fonts/Unbounded-bold.fntdata"/><Relationship Id="rId10" Type="http://schemas.openxmlformats.org/officeDocument/2006/relationships/slide" Target="slides/slide6.xml"/><Relationship Id="rId32" Type="http://schemas.openxmlformats.org/officeDocument/2006/relationships/font" Target="fonts/Unbounded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19" Type="http://schemas.openxmlformats.org/officeDocument/2006/relationships/font" Target="fonts/UnboundedSemiBold-bold.fntdata"/><Relationship Id="rId18" Type="http://schemas.openxmlformats.org/officeDocument/2006/relationships/font" Target="fonts/Unbounded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ed3401ed3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ed3401ed3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3fb61485a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3fb61485a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c256b65b8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c256b65b8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e1d838b62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e1d838b62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e8261fc0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e8261fc0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e1d838b62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e1d838b62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3fb61485ab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3fb61485a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e1d838b627_4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e1d838b627_4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e1d838b627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e1d838b627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>
            <p:ph idx="2" type="pic"/>
          </p:nvPr>
        </p:nvSpPr>
        <p:spPr>
          <a:xfrm>
            <a:off x="-1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342900" y="342902"/>
            <a:ext cx="3833700" cy="145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sz="3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2900" y="4457971"/>
            <a:ext cx="3141900" cy="339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 title="paint-drops-black-background.jpg"/>
          <p:cNvPicPr preferRelativeResize="0"/>
          <p:nvPr/>
        </p:nvPicPr>
        <p:blipFill rotWithShape="1">
          <a:blip r:embed="rId2">
            <a:alphaModFix/>
          </a:blip>
          <a:srcRect b="651" l="35568" r="28362" t="2177"/>
          <a:stretch/>
        </p:blipFill>
        <p:spPr>
          <a:xfrm rot="-5400000">
            <a:off x="1990225" y="-1980201"/>
            <a:ext cx="5163551" cy="912395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/>
          <p:nvPr>
            <p:ph idx="2" type="pic"/>
          </p:nvPr>
        </p:nvSpPr>
        <p:spPr>
          <a:xfrm>
            <a:off x="342900" y="342900"/>
            <a:ext cx="8443500" cy="338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1730750" y="3849950"/>
            <a:ext cx="7070400" cy="9492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7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hasCustomPrompt="1" idx="3" type="title"/>
          </p:nvPr>
        </p:nvSpPr>
        <p:spPr>
          <a:xfrm>
            <a:off x="342900" y="3800301"/>
            <a:ext cx="1283400" cy="91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200">
                <a:solidFill>
                  <a:schemeClr val="accent2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 title="paint-drops-black-background.jpg"/>
          <p:cNvPicPr preferRelativeResize="0"/>
          <p:nvPr/>
        </p:nvPicPr>
        <p:blipFill rotWithShape="1">
          <a:blip r:embed="rId2">
            <a:alphaModFix/>
          </a:blip>
          <a:srcRect b="0" l="0" r="0" t="14237"/>
          <a:stretch/>
        </p:blipFill>
        <p:spPr>
          <a:xfrm>
            <a:off x="-1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>
            <p:ph type="title"/>
          </p:nvPr>
        </p:nvSpPr>
        <p:spPr>
          <a:xfrm>
            <a:off x="342900" y="342900"/>
            <a:ext cx="8458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 title="paint-drops-black-background.jpg"/>
          <p:cNvPicPr preferRelativeResize="0"/>
          <p:nvPr/>
        </p:nvPicPr>
        <p:blipFill rotWithShape="1">
          <a:blip r:embed="rId2">
            <a:alphaModFix/>
          </a:blip>
          <a:srcRect b="0" l="0" r="0" t="14237"/>
          <a:stretch/>
        </p:blipFill>
        <p:spPr>
          <a:xfrm rot="10800000">
            <a:off x="-1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5"/>
          <p:cNvSpPr txBox="1"/>
          <p:nvPr>
            <p:ph type="title"/>
          </p:nvPr>
        </p:nvSpPr>
        <p:spPr>
          <a:xfrm>
            <a:off x="335925" y="634425"/>
            <a:ext cx="50973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349345" y="3105291"/>
            <a:ext cx="2112300" cy="18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2" type="subTitle"/>
          </p:nvPr>
        </p:nvSpPr>
        <p:spPr>
          <a:xfrm>
            <a:off x="349339" y="2219500"/>
            <a:ext cx="2112300" cy="7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3" type="subTitle"/>
          </p:nvPr>
        </p:nvSpPr>
        <p:spPr>
          <a:xfrm>
            <a:off x="2900989" y="3105280"/>
            <a:ext cx="2112300" cy="18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4" type="subTitle"/>
          </p:nvPr>
        </p:nvSpPr>
        <p:spPr>
          <a:xfrm>
            <a:off x="2909964" y="2219500"/>
            <a:ext cx="2112300" cy="7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" name="Google Shape;27;p5"/>
          <p:cNvSpPr/>
          <p:nvPr>
            <p:ph idx="5" type="pic"/>
          </p:nvPr>
        </p:nvSpPr>
        <p:spPr>
          <a:xfrm>
            <a:off x="6206075" y="800100"/>
            <a:ext cx="2580300" cy="3771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7"/>
          <p:cNvSpPr/>
          <p:nvPr>
            <p:ph idx="2" type="pic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idx="1" type="subTitle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2" type="subTitle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10"/>
          <p:cNvSpPr txBox="1"/>
          <p:nvPr>
            <p:ph type="title"/>
          </p:nvPr>
        </p:nvSpPr>
        <p:spPr>
          <a:xfrm>
            <a:off x="228600" y="4549500"/>
            <a:ext cx="3658500" cy="36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1400"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hasCustomPrompt="1" type="title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/>
          <p:nvPr>
            <p:ph idx="1" type="subTitle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3" title="paint-drops-black-background.jpg"/>
          <p:cNvPicPr preferRelativeResize="0"/>
          <p:nvPr/>
        </p:nvPicPr>
        <p:blipFill rotWithShape="1">
          <a:blip r:embed="rId2">
            <a:alphaModFix/>
          </a:blip>
          <a:srcRect b="39872" l="17791" r="17797" t="4889"/>
          <a:stretch/>
        </p:blipFill>
        <p:spPr>
          <a:xfrm rot="10800000">
            <a:off x="-1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3"/>
          <p:cNvSpPr/>
          <p:nvPr>
            <p:ph idx="2" type="pic"/>
          </p:nvPr>
        </p:nvSpPr>
        <p:spPr>
          <a:xfrm>
            <a:off x="342900" y="3469850"/>
            <a:ext cx="8458200" cy="13308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50" name="Google Shape;50;p13"/>
          <p:cNvSpPr txBox="1"/>
          <p:nvPr>
            <p:ph type="title"/>
          </p:nvPr>
        </p:nvSpPr>
        <p:spPr>
          <a:xfrm>
            <a:off x="342900" y="342900"/>
            <a:ext cx="845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" type="subTitle"/>
          </p:nvPr>
        </p:nvSpPr>
        <p:spPr>
          <a:xfrm>
            <a:off x="1752627" y="991818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3" type="subTitle"/>
          </p:nvPr>
        </p:nvSpPr>
        <p:spPr>
          <a:xfrm>
            <a:off x="1752627" y="1638027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4" type="subTitle"/>
          </p:nvPr>
        </p:nvSpPr>
        <p:spPr>
          <a:xfrm>
            <a:off x="1752627" y="2284235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5" type="subTitle"/>
          </p:nvPr>
        </p:nvSpPr>
        <p:spPr>
          <a:xfrm>
            <a:off x="1752627" y="2930443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6" type="subTitle"/>
          </p:nvPr>
        </p:nvSpPr>
        <p:spPr>
          <a:xfrm>
            <a:off x="5496977" y="991818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7" type="subTitle"/>
          </p:nvPr>
        </p:nvSpPr>
        <p:spPr>
          <a:xfrm>
            <a:off x="5496977" y="1638025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8" type="subTitle"/>
          </p:nvPr>
        </p:nvSpPr>
        <p:spPr>
          <a:xfrm>
            <a:off x="5496977" y="2284231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9" type="subTitle"/>
          </p:nvPr>
        </p:nvSpPr>
        <p:spPr>
          <a:xfrm>
            <a:off x="5496977" y="2930437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9" name="Google Shape;59;p13"/>
          <p:cNvSpPr txBox="1"/>
          <p:nvPr>
            <p:ph hasCustomPrompt="1" idx="13" type="title"/>
          </p:nvPr>
        </p:nvSpPr>
        <p:spPr>
          <a:xfrm>
            <a:off x="834828" y="2954256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1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/>
          <p:nvPr>
            <p:ph hasCustomPrompt="1" idx="14" type="title"/>
          </p:nvPr>
        </p:nvSpPr>
        <p:spPr>
          <a:xfrm>
            <a:off x="834829" y="1661639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1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hasCustomPrompt="1" idx="15" type="title"/>
          </p:nvPr>
        </p:nvSpPr>
        <p:spPr>
          <a:xfrm>
            <a:off x="835656" y="1015631"/>
            <a:ext cx="8643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1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/>
          <p:nvPr>
            <p:ph hasCustomPrompt="1" idx="16" type="title"/>
          </p:nvPr>
        </p:nvSpPr>
        <p:spPr>
          <a:xfrm>
            <a:off x="834828" y="2307948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1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/>
          <p:nvPr>
            <p:ph hasCustomPrompt="1" idx="17" type="title"/>
          </p:nvPr>
        </p:nvSpPr>
        <p:spPr>
          <a:xfrm>
            <a:off x="4591866" y="1661837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1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/>
          <p:nvPr>
            <p:ph hasCustomPrompt="1" idx="18" type="title"/>
          </p:nvPr>
        </p:nvSpPr>
        <p:spPr>
          <a:xfrm>
            <a:off x="4591864" y="2308043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1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/>
          <p:nvPr>
            <p:ph hasCustomPrompt="1" idx="19" type="title"/>
          </p:nvPr>
        </p:nvSpPr>
        <p:spPr>
          <a:xfrm>
            <a:off x="4591866" y="2954250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1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/>
          <p:nvPr>
            <p:ph hasCustomPrompt="1" idx="20" type="title"/>
          </p:nvPr>
        </p:nvSpPr>
        <p:spPr>
          <a:xfrm>
            <a:off x="4591866" y="1015631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1"/>
                </a:solidFill>
                <a:latin typeface="Unbounded ExtraBold"/>
                <a:ea typeface="Unbounded ExtraBold"/>
                <a:cs typeface="Unbounded ExtraBold"/>
                <a:sym typeface="Unbounded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4" title="paint-drops-black-background.jpg"/>
          <p:cNvPicPr preferRelativeResize="0"/>
          <p:nvPr/>
        </p:nvPicPr>
        <p:blipFill rotWithShape="1">
          <a:blip r:embed="rId2">
            <a:alphaModFix/>
          </a:blip>
          <a:srcRect b="7541" l="17209" r="17801" t="36724"/>
          <a:stretch/>
        </p:blipFill>
        <p:spPr>
          <a:xfrm rot="10800000">
            <a:off x="-1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>
            <p:ph type="title"/>
          </p:nvPr>
        </p:nvSpPr>
        <p:spPr>
          <a:xfrm>
            <a:off x="347472" y="794675"/>
            <a:ext cx="8022000" cy="69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subTitle"/>
          </p:nvPr>
        </p:nvSpPr>
        <p:spPr>
          <a:xfrm>
            <a:off x="3352800" y="2376025"/>
            <a:ext cx="5562600" cy="25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 title="paint-drops-black-background.jpg"/>
          <p:cNvPicPr preferRelativeResize="0"/>
          <p:nvPr/>
        </p:nvPicPr>
        <p:blipFill rotWithShape="1">
          <a:blip r:embed="rId2">
            <a:alphaModFix/>
          </a:blip>
          <a:srcRect b="0" l="0" r="0" t="14237"/>
          <a:stretch/>
        </p:blipFill>
        <p:spPr>
          <a:xfrm rot="10800000">
            <a:off x="-1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>
            <p:ph type="title"/>
          </p:nvPr>
        </p:nvSpPr>
        <p:spPr>
          <a:xfrm>
            <a:off x="5122600" y="648321"/>
            <a:ext cx="3792900" cy="29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" type="subTitle"/>
          </p:nvPr>
        </p:nvSpPr>
        <p:spPr>
          <a:xfrm>
            <a:off x="5122600" y="3705450"/>
            <a:ext cx="3678600" cy="10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" name="Google Shape;75;p15"/>
          <p:cNvSpPr/>
          <p:nvPr>
            <p:ph idx="2" type="pic"/>
          </p:nvPr>
        </p:nvSpPr>
        <p:spPr>
          <a:xfrm>
            <a:off x="342900" y="342900"/>
            <a:ext cx="4229100" cy="44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49349" y="154925"/>
            <a:ext cx="818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sz="2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sz="2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sz="2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sz="2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sz="2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sz="2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sz="2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sz="2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sz="2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paint-drops-black-background.jpg"/>
          <p:cNvPicPr preferRelativeResize="0"/>
          <p:nvPr/>
        </p:nvPicPr>
        <p:blipFill rotWithShape="1">
          <a:blip r:embed="rId2">
            <a:alphaModFix/>
          </a:blip>
          <a:srcRect b="820" l="27165" r="36395" t="415"/>
          <a:stretch/>
        </p:blipFill>
        <p:spPr>
          <a:xfrm rot="5400000">
            <a:off x="2000250" y="-2000249"/>
            <a:ext cx="5143501" cy="91440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>
            <p:ph type="title"/>
          </p:nvPr>
        </p:nvSpPr>
        <p:spPr>
          <a:xfrm>
            <a:off x="228600" y="2683250"/>
            <a:ext cx="4292400" cy="211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228600" y="577077"/>
            <a:ext cx="4500900" cy="7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82" name="Google Shape;82;p17"/>
          <p:cNvSpPr txBox="1"/>
          <p:nvPr/>
        </p:nvSpPr>
        <p:spPr>
          <a:xfrm>
            <a:off x="4188627" y="2561750"/>
            <a:ext cx="47295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and includes icons,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1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8" title="back-1.jpg"/>
          <p:cNvPicPr preferRelativeResize="0"/>
          <p:nvPr/>
        </p:nvPicPr>
        <p:blipFill rotWithShape="1">
          <a:blip r:embed="rId2">
            <a:alphaModFix/>
          </a:blip>
          <a:srcRect b="26172" l="0" r="28413" t="0"/>
          <a:stretch/>
        </p:blipFill>
        <p:spPr>
          <a:xfrm>
            <a:off x="0" y="-13850"/>
            <a:ext cx="914400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9" title="back-2.jpg"/>
          <p:cNvPicPr preferRelativeResize="0"/>
          <p:nvPr/>
        </p:nvPicPr>
        <p:blipFill rotWithShape="1">
          <a:blip r:embed="rId2">
            <a:alphaModFix/>
          </a:blip>
          <a:srcRect b="0" l="1980" r="0" t="-1102"/>
          <a:stretch/>
        </p:blipFill>
        <p:spPr>
          <a:xfrm rot="10800000">
            <a:off x="3" y="-1"/>
            <a:ext cx="9143997" cy="5162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Unbounded Light"/>
              <a:buNone/>
              <a:defRPr sz="2600">
                <a:solidFill>
                  <a:schemeClr val="dk1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Unbounded Light"/>
              <a:buNone/>
              <a:defRPr sz="2600">
                <a:solidFill>
                  <a:schemeClr val="dk1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Unbounded Light"/>
              <a:buNone/>
              <a:defRPr sz="2600">
                <a:solidFill>
                  <a:schemeClr val="dk1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Unbounded Light"/>
              <a:buNone/>
              <a:defRPr sz="2600">
                <a:solidFill>
                  <a:schemeClr val="dk1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Unbounded Light"/>
              <a:buNone/>
              <a:defRPr sz="2600">
                <a:solidFill>
                  <a:schemeClr val="dk1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Unbounded Light"/>
              <a:buNone/>
              <a:defRPr sz="2600">
                <a:solidFill>
                  <a:schemeClr val="dk1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Unbounded Light"/>
              <a:buNone/>
              <a:defRPr sz="2600">
                <a:solidFill>
                  <a:schemeClr val="dk1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Unbounded Light"/>
              <a:buNone/>
              <a:defRPr sz="2600">
                <a:solidFill>
                  <a:schemeClr val="dk1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Unbounded Light"/>
              <a:buNone/>
              <a:defRPr sz="2600">
                <a:solidFill>
                  <a:schemeClr val="dk1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0" title="portada-estrellada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0" r="3025" t="0"/>
          <a:stretch/>
        </p:blipFill>
        <p:spPr>
          <a:xfrm>
            <a:off x="-1" y="0"/>
            <a:ext cx="9144003" cy="5143500"/>
          </a:xfrm>
          <a:prstGeom prst="rect">
            <a:avLst/>
          </a:prstGeom>
        </p:spPr>
      </p:pic>
      <p:sp>
        <p:nvSpPr>
          <p:cNvPr id="92" name="Google Shape;92;p20"/>
          <p:cNvSpPr/>
          <p:nvPr/>
        </p:nvSpPr>
        <p:spPr>
          <a:xfrm>
            <a:off x="0" y="4088775"/>
            <a:ext cx="9144000" cy="1054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070A19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0"/>
          <p:cNvSpPr txBox="1"/>
          <p:nvPr>
            <p:ph type="ctrTitle"/>
          </p:nvPr>
        </p:nvSpPr>
        <p:spPr>
          <a:xfrm>
            <a:off x="88775" y="1339325"/>
            <a:ext cx="8237700" cy="368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Unbounded"/>
                <a:ea typeface="Unbounded"/>
                <a:cs typeface="Unbounded"/>
                <a:sym typeface="Unbounded"/>
              </a:rPr>
              <a:t>Cybersecurity Frameworks</a:t>
            </a:r>
            <a:endParaRPr b="1" sz="2000"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Unbounded"/>
                <a:ea typeface="Unbounded"/>
                <a:cs typeface="Unbounded"/>
                <a:sym typeface="Unbounded"/>
              </a:rPr>
              <a:t>NIST Cybersecurity Framework (NIST CSF)</a:t>
            </a:r>
            <a:endParaRPr b="1" sz="2000"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94" name="Google Shape;94;p20"/>
          <p:cNvSpPr txBox="1"/>
          <p:nvPr/>
        </p:nvSpPr>
        <p:spPr>
          <a:xfrm>
            <a:off x="1027000" y="196325"/>
            <a:ext cx="748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>
            <p:ph type="title"/>
          </p:nvPr>
        </p:nvSpPr>
        <p:spPr>
          <a:xfrm>
            <a:off x="52850" y="0"/>
            <a:ext cx="8316600" cy="7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nbounded Black"/>
                <a:ea typeface="Unbounded Black"/>
                <a:cs typeface="Unbounded Black"/>
                <a:sym typeface="Unbounded Black"/>
              </a:rPr>
              <a:t>What is NIST?</a:t>
            </a:r>
            <a:endParaRPr/>
          </a:p>
        </p:txBody>
      </p:sp>
      <p:sp>
        <p:nvSpPr>
          <p:cNvPr id="100" name="Google Shape;100;p21"/>
          <p:cNvSpPr txBox="1"/>
          <p:nvPr>
            <p:ph idx="1" type="subTitle"/>
          </p:nvPr>
        </p:nvSpPr>
        <p:spPr>
          <a:xfrm>
            <a:off x="3581400" y="637950"/>
            <a:ext cx="5562600" cy="45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chemeClr val="lt2"/>
                </a:solidFill>
              </a:rPr>
              <a:t>NIST stands for the National Institute of Standards and Technology.</a:t>
            </a:r>
            <a:br>
              <a:rPr b="1" i="1" lang="en" sz="1600">
                <a:solidFill>
                  <a:schemeClr val="lt2"/>
                </a:solidFill>
              </a:rPr>
            </a:br>
            <a:r>
              <a:rPr b="1" i="1" lang="en" sz="1600">
                <a:solidFill>
                  <a:schemeClr val="lt2"/>
                </a:solidFill>
              </a:rPr>
              <a:t> Think of it as a cybersecurity rulebook created to help organizations protect their systems and data.</a:t>
            </a:r>
            <a:endParaRPr b="1" i="1" sz="16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chemeClr val="lt2"/>
                </a:solidFill>
              </a:rPr>
              <a:t>NIST breaks cybersecurity into five core functions:</a:t>
            </a:r>
            <a:endParaRPr b="1" i="1" sz="1600">
              <a:solidFill>
                <a:schemeClr val="lt2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Char char="●"/>
            </a:pPr>
            <a:r>
              <a:rPr b="1" i="1" lang="en" sz="1600">
                <a:solidFill>
                  <a:schemeClr val="lt2"/>
                </a:solidFill>
              </a:rPr>
              <a:t>Identify – Know what systems, data, and assets you have</a:t>
            </a:r>
            <a:endParaRPr b="1" i="1" sz="1600">
              <a:solidFill>
                <a:schemeClr val="lt2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Char char="●"/>
            </a:pPr>
            <a:r>
              <a:rPr b="1" i="1" lang="en" sz="1600">
                <a:solidFill>
                  <a:schemeClr val="lt2"/>
                </a:solidFill>
              </a:rPr>
              <a:t>Protect – Put controls in place to secure them</a:t>
            </a:r>
            <a:endParaRPr b="1" i="1" sz="1600">
              <a:solidFill>
                <a:schemeClr val="lt2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Char char="●"/>
            </a:pPr>
            <a:r>
              <a:rPr b="1" i="1" lang="en" sz="1600">
                <a:solidFill>
                  <a:schemeClr val="lt2"/>
                </a:solidFill>
              </a:rPr>
              <a:t>Detect – Monitor for security issues</a:t>
            </a:r>
            <a:endParaRPr b="1" i="1" sz="1600">
              <a:solidFill>
                <a:schemeClr val="lt2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Char char="●"/>
            </a:pPr>
            <a:r>
              <a:rPr b="1" i="1" lang="en" sz="1600">
                <a:solidFill>
                  <a:schemeClr val="lt2"/>
                </a:solidFill>
              </a:rPr>
              <a:t>Respond – Take action when an attack happens</a:t>
            </a:r>
            <a:endParaRPr b="1" i="1" sz="1600">
              <a:solidFill>
                <a:schemeClr val="lt2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Char char="●"/>
            </a:pPr>
            <a:r>
              <a:rPr b="1" i="1" lang="en" sz="1600">
                <a:solidFill>
                  <a:schemeClr val="lt2"/>
                </a:solidFill>
              </a:rPr>
              <a:t>Recover – Restore normal operations</a:t>
            </a:r>
            <a:endParaRPr b="1" i="1" sz="16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5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title"/>
          </p:nvPr>
        </p:nvSpPr>
        <p:spPr>
          <a:xfrm>
            <a:off x="4975525" y="648325"/>
            <a:ext cx="3939900" cy="39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Unbounded Black"/>
                <a:ea typeface="Unbounded Black"/>
                <a:cs typeface="Unbounded Black"/>
                <a:sym typeface="Unbounded Black"/>
              </a:rPr>
              <a:t>ELITE STAR MEDICAL CLINIC </a:t>
            </a:r>
            <a:endParaRPr sz="1500">
              <a:solidFill>
                <a:schemeClr val="lt2"/>
              </a:solidFill>
              <a:latin typeface="Unbounded Black"/>
              <a:ea typeface="Unbounded Black"/>
              <a:cs typeface="Unbounded Black"/>
              <a:sym typeface="Unbounde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Unbounded Black"/>
              <a:ea typeface="Unbounded Black"/>
              <a:cs typeface="Unbounded Black"/>
              <a:sym typeface="Unbounded Blac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FFFF"/>
                </a:solidFill>
                <a:latin typeface="Unbounded Black"/>
                <a:ea typeface="Unbounded Black"/>
                <a:cs typeface="Unbounded Black"/>
                <a:sym typeface="Unbounded Black"/>
              </a:rPr>
              <a:t>A small healthcare provider with 50 employees.</a:t>
            </a:r>
            <a:endParaRPr sz="1500">
              <a:solidFill>
                <a:srgbClr val="00FFFF"/>
              </a:solidFill>
              <a:latin typeface="Unbounded Black"/>
              <a:ea typeface="Unbounded Black"/>
              <a:cs typeface="Unbounded Black"/>
              <a:sym typeface="Unbounded Blac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FFFF"/>
              </a:buClr>
              <a:buSzPts val="1100"/>
              <a:buFont typeface="Arial"/>
              <a:buChar char="●"/>
            </a:pPr>
            <a:r>
              <a:rPr lang="en" sz="1500">
                <a:solidFill>
                  <a:srgbClr val="00FFFF"/>
                </a:solidFill>
                <a:latin typeface="Unbounded Black"/>
                <a:ea typeface="Unbounded Black"/>
                <a:cs typeface="Unbounded Black"/>
                <a:sym typeface="Unbounded Black"/>
              </a:rPr>
              <a:t>Stores patient health records digitally</a:t>
            </a:r>
            <a:endParaRPr sz="1500">
              <a:solidFill>
                <a:srgbClr val="00FFFF"/>
              </a:solidFill>
              <a:latin typeface="Unbounded Black"/>
              <a:ea typeface="Unbounded Black"/>
              <a:cs typeface="Unbounded Black"/>
              <a:sym typeface="Unbounded Blac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1100"/>
              <a:buFont typeface="Arial"/>
              <a:buChar char="●"/>
            </a:pPr>
            <a:r>
              <a:rPr lang="en" sz="1500">
                <a:solidFill>
                  <a:srgbClr val="00FFFF"/>
                </a:solidFill>
                <a:latin typeface="Unbounded Black"/>
                <a:ea typeface="Unbounded Black"/>
                <a:cs typeface="Unbounded Black"/>
                <a:sym typeface="Unbounded Black"/>
              </a:rPr>
              <a:t>Uses cloud‑based applications</a:t>
            </a:r>
            <a:endParaRPr sz="1500">
              <a:solidFill>
                <a:srgbClr val="00FFFF"/>
              </a:solidFill>
              <a:latin typeface="Unbounded Black"/>
              <a:ea typeface="Unbounded Black"/>
              <a:cs typeface="Unbounded Black"/>
              <a:sym typeface="Unbounded Blac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1100"/>
              <a:buFont typeface="Arial"/>
              <a:buChar char="●"/>
            </a:pPr>
            <a:r>
              <a:rPr lang="en" sz="1500">
                <a:solidFill>
                  <a:srgbClr val="00FFFF"/>
                </a:solidFill>
                <a:latin typeface="Unbounded Black"/>
                <a:ea typeface="Unbounded Black"/>
                <a:cs typeface="Unbounded Black"/>
                <a:sym typeface="Unbounded Black"/>
              </a:rPr>
              <a:t>Must protect sensitive patient data from cyberattacks</a:t>
            </a:r>
            <a:endParaRPr sz="1500">
              <a:solidFill>
                <a:srgbClr val="00FFFF"/>
              </a:solidFill>
              <a:latin typeface="Unbounded Black"/>
              <a:ea typeface="Unbounded Black"/>
              <a:cs typeface="Unbounded Black"/>
              <a:sym typeface="Unbounded Blac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Unbounded Black"/>
              <a:ea typeface="Unbounded Black"/>
              <a:cs typeface="Unbounded Black"/>
              <a:sym typeface="Unbounded Black"/>
            </a:endParaRPr>
          </a:p>
        </p:txBody>
      </p:sp>
      <p:pic>
        <p:nvPicPr>
          <p:cNvPr id="106" name="Google Shape;106;p22" title="patient-undergoing-brain-scan-futuristic-medical-setting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4899" l="2366" r="263" t="14892"/>
          <a:stretch/>
        </p:blipFill>
        <p:spPr>
          <a:xfrm>
            <a:off x="342900" y="342900"/>
            <a:ext cx="4229101" cy="44578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/>
          <p:nvPr/>
        </p:nvSpPr>
        <p:spPr>
          <a:xfrm>
            <a:off x="165225" y="1596625"/>
            <a:ext cx="1887900" cy="2873100"/>
          </a:xfrm>
          <a:prstGeom prst="roundRect">
            <a:avLst>
              <a:gd fmla="val 0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Patient database: 1,200 records</a:t>
            </a:r>
            <a:endParaRPr b="1" sz="23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2" name="Google Shape;112;p23"/>
          <p:cNvSpPr/>
          <p:nvPr/>
        </p:nvSpPr>
        <p:spPr>
          <a:xfrm>
            <a:off x="0" y="4848125"/>
            <a:ext cx="9144000" cy="342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113" name="Google Shape;11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6800" y="4953325"/>
            <a:ext cx="861701" cy="13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/>
          <p:nvPr/>
        </p:nvSpPr>
        <p:spPr>
          <a:xfrm>
            <a:off x="2081700" y="1596650"/>
            <a:ext cx="1682100" cy="2873100"/>
          </a:xfrm>
          <a:prstGeom prst="roundRect">
            <a:avLst>
              <a:gd fmla="val 0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 u="sng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15 </a:t>
            </a:r>
            <a:r>
              <a:rPr b="1" lang="en" sz="23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employee laptops</a:t>
            </a:r>
            <a:endParaRPr b="1" sz="23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5" name="Google Shape;115;p23"/>
          <p:cNvSpPr/>
          <p:nvPr/>
        </p:nvSpPr>
        <p:spPr>
          <a:xfrm>
            <a:off x="3792275" y="1596650"/>
            <a:ext cx="1682100" cy="2873100"/>
          </a:xfrm>
          <a:prstGeom prst="roundRect">
            <a:avLst>
              <a:gd fmla="val 0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Google Workspace (Google Drive)</a:t>
            </a:r>
            <a:endParaRPr b="1" sz="21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6" name="Google Shape;116;p23"/>
          <p:cNvSpPr/>
          <p:nvPr/>
        </p:nvSpPr>
        <p:spPr>
          <a:xfrm>
            <a:off x="5609350" y="1590625"/>
            <a:ext cx="1682100" cy="2873100"/>
          </a:xfrm>
          <a:prstGeom prst="roundRect">
            <a:avLst>
              <a:gd fmla="val 0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3 admin accounts with full access</a:t>
            </a:r>
            <a:endParaRPr b="1" sz="21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7" name="Google Shape;117;p23"/>
          <p:cNvSpPr/>
          <p:nvPr/>
        </p:nvSpPr>
        <p:spPr>
          <a:xfrm>
            <a:off x="2801974" y="1289987"/>
            <a:ext cx="241571" cy="206140"/>
          </a:xfrm>
          <a:custGeom>
            <a:rect b="b" l="l" r="r" t="t"/>
            <a:pathLst>
              <a:path extrusionOk="0" h="580677" w="680481">
                <a:moveTo>
                  <a:pt x="676795" y="490797"/>
                </a:moveTo>
                <a:lnTo>
                  <a:pt x="614134" y="373130"/>
                </a:lnTo>
                <a:lnTo>
                  <a:pt x="614134" y="86478"/>
                </a:lnTo>
                <a:cubicBezTo>
                  <a:pt x="614134" y="38844"/>
                  <a:pt x="575290" y="0"/>
                  <a:pt x="527656" y="0"/>
                </a:cubicBezTo>
                <a:lnTo>
                  <a:pt x="153108" y="0"/>
                </a:lnTo>
                <a:cubicBezTo>
                  <a:pt x="105475" y="0"/>
                  <a:pt x="66630" y="38844"/>
                  <a:pt x="66630" y="86478"/>
                </a:cubicBezTo>
                <a:lnTo>
                  <a:pt x="66630" y="373130"/>
                </a:lnTo>
                <a:lnTo>
                  <a:pt x="3969" y="490797"/>
                </a:lnTo>
                <a:cubicBezTo>
                  <a:pt x="1418" y="495617"/>
                  <a:pt x="0" y="501004"/>
                  <a:pt x="0" y="506391"/>
                </a:cubicBezTo>
                <a:lnTo>
                  <a:pt x="0" y="547504"/>
                </a:lnTo>
                <a:cubicBezTo>
                  <a:pt x="0" y="565933"/>
                  <a:pt x="14744" y="580677"/>
                  <a:pt x="33173" y="580677"/>
                </a:cubicBezTo>
                <a:lnTo>
                  <a:pt x="647308" y="580677"/>
                </a:lnTo>
                <a:cubicBezTo>
                  <a:pt x="665737" y="580677"/>
                  <a:pt x="680481" y="565933"/>
                  <a:pt x="680481" y="547504"/>
                </a:cubicBezTo>
                <a:lnTo>
                  <a:pt x="680481" y="506391"/>
                </a:lnTo>
                <a:cubicBezTo>
                  <a:pt x="680481" y="501004"/>
                  <a:pt x="679064" y="495617"/>
                  <a:pt x="676512" y="490797"/>
                </a:cubicBezTo>
                <a:close/>
                <a:moveTo>
                  <a:pt x="406871" y="481157"/>
                </a:moveTo>
                <a:lnTo>
                  <a:pt x="273894" y="481157"/>
                </a:lnTo>
                <a:cubicBezTo>
                  <a:pt x="255464" y="481157"/>
                  <a:pt x="240720" y="466413"/>
                  <a:pt x="240720" y="447983"/>
                </a:cubicBezTo>
                <a:cubicBezTo>
                  <a:pt x="240720" y="429554"/>
                  <a:pt x="255464" y="414810"/>
                  <a:pt x="273894" y="414810"/>
                </a:cubicBezTo>
                <a:lnTo>
                  <a:pt x="406871" y="414810"/>
                </a:lnTo>
                <a:cubicBezTo>
                  <a:pt x="425301" y="414810"/>
                  <a:pt x="440045" y="429554"/>
                  <a:pt x="440045" y="447983"/>
                </a:cubicBezTo>
                <a:cubicBezTo>
                  <a:pt x="440045" y="466413"/>
                  <a:pt x="425301" y="481157"/>
                  <a:pt x="406871" y="481157"/>
                </a:cubicBezTo>
                <a:close/>
                <a:moveTo>
                  <a:pt x="547787" y="348179"/>
                </a:moveTo>
                <a:lnTo>
                  <a:pt x="133261" y="348179"/>
                </a:lnTo>
                <a:lnTo>
                  <a:pt x="133261" y="86478"/>
                </a:lnTo>
                <a:cubicBezTo>
                  <a:pt x="133261" y="75420"/>
                  <a:pt x="142334" y="66630"/>
                  <a:pt x="153108" y="66630"/>
                </a:cubicBezTo>
                <a:lnTo>
                  <a:pt x="527940" y="66630"/>
                </a:lnTo>
                <a:cubicBezTo>
                  <a:pt x="538998" y="66630"/>
                  <a:pt x="547787" y="75703"/>
                  <a:pt x="547787" y="86478"/>
                </a:cubicBezTo>
                <a:lnTo>
                  <a:pt x="547787" y="348179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23"/>
          <p:cNvGrpSpPr/>
          <p:nvPr/>
        </p:nvGrpSpPr>
        <p:grpSpPr>
          <a:xfrm>
            <a:off x="4639171" y="1283990"/>
            <a:ext cx="232210" cy="218118"/>
            <a:chOff x="3676971" y="3049410"/>
            <a:chExt cx="232210" cy="218118"/>
          </a:xfrm>
        </p:grpSpPr>
        <p:sp>
          <p:nvSpPr>
            <p:cNvPr id="119" name="Google Shape;119;p23"/>
            <p:cNvSpPr/>
            <p:nvPr/>
          </p:nvSpPr>
          <p:spPr>
            <a:xfrm>
              <a:off x="3676971" y="3049410"/>
              <a:ext cx="232210" cy="218118"/>
            </a:xfrm>
            <a:custGeom>
              <a:rect b="b" l="l" r="r" t="t"/>
              <a:pathLst>
                <a:path extrusionOk="0" h="614417" w="654112">
                  <a:moveTo>
                    <a:pt x="567635" y="283"/>
                  </a:moveTo>
                  <a:lnTo>
                    <a:pt x="86478" y="283"/>
                  </a:lnTo>
                  <a:cubicBezTo>
                    <a:pt x="38844" y="283"/>
                    <a:pt x="0" y="39128"/>
                    <a:pt x="0" y="86761"/>
                  </a:cubicBezTo>
                  <a:lnTo>
                    <a:pt x="0" y="428419"/>
                  </a:lnTo>
                  <a:cubicBezTo>
                    <a:pt x="0" y="476053"/>
                    <a:pt x="38844" y="514897"/>
                    <a:pt x="86478" y="514897"/>
                  </a:cubicBezTo>
                  <a:lnTo>
                    <a:pt x="132977" y="514897"/>
                  </a:lnTo>
                  <a:lnTo>
                    <a:pt x="132977" y="581244"/>
                  </a:lnTo>
                  <a:cubicBezTo>
                    <a:pt x="132977" y="593436"/>
                    <a:pt x="139499" y="604494"/>
                    <a:pt x="149989" y="610165"/>
                  </a:cubicBezTo>
                  <a:cubicBezTo>
                    <a:pt x="155093" y="613000"/>
                    <a:pt x="160764" y="614418"/>
                    <a:pt x="166151" y="614418"/>
                  </a:cubicBezTo>
                  <a:cubicBezTo>
                    <a:pt x="172388" y="614418"/>
                    <a:pt x="178343" y="612716"/>
                    <a:pt x="183730" y="609314"/>
                  </a:cubicBezTo>
                  <a:lnTo>
                    <a:pt x="336555" y="514614"/>
                  </a:lnTo>
                  <a:lnTo>
                    <a:pt x="567635" y="514614"/>
                  </a:lnTo>
                  <a:cubicBezTo>
                    <a:pt x="615268" y="514614"/>
                    <a:pt x="654112" y="475770"/>
                    <a:pt x="654112" y="428136"/>
                  </a:cubicBezTo>
                  <a:lnTo>
                    <a:pt x="654112" y="86478"/>
                  </a:lnTo>
                  <a:cubicBezTo>
                    <a:pt x="654112" y="38844"/>
                    <a:pt x="615268" y="0"/>
                    <a:pt x="567635" y="0"/>
                  </a:cubicBezTo>
                  <a:close/>
                  <a:moveTo>
                    <a:pt x="587766" y="428136"/>
                  </a:moveTo>
                  <a:cubicBezTo>
                    <a:pt x="587766" y="439194"/>
                    <a:pt x="578976" y="447983"/>
                    <a:pt x="567918" y="447983"/>
                  </a:cubicBezTo>
                  <a:lnTo>
                    <a:pt x="327481" y="447983"/>
                  </a:lnTo>
                  <a:cubicBezTo>
                    <a:pt x="321244" y="447983"/>
                    <a:pt x="315289" y="449684"/>
                    <a:pt x="309902" y="453087"/>
                  </a:cubicBezTo>
                  <a:lnTo>
                    <a:pt x="199891" y="521135"/>
                  </a:lnTo>
                  <a:lnTo>
                    <a:pt x="199891" y="481157"/>
                  </a:lnTo>
                  <a:cubicBezTo>
                    <a:pt x="199891" y="462727"/>
                    <a:pt x="184864" y="447983"/>
                    <a:pt x="166718" y="447983"/>
                  </a:cubicBezTo>
                  <a:lnTo>
                    <a:pt x="87045" y="447983"/>
                  </a:lnTo>
                  <a:cubicBezTo>
                    <a:pt x="75987" y="447983"/>
                    <a:pt x="67197" y="439194"/>
                    <a:pt x="67197" y="428136"/>
                  </a:cubicBezTo>
                  <a:lnTo>
                    <a:pt x="67197" y="86478"/>
                  </a:lnTo>
                  <a:cubicBezTo>
                    <a:pt x="67197" y="75420"/>
                    <a:pt x="75987" y="66630"/>
                    <a:pt x="87045" y="66630"/>
                  </a:cubicBezTo>
                  <a:lnTo>
                    <a:pt x="568202" y="66630"/>
                  </a:lnTo>
                  <a:cubicBezTo>
                    <a:pt x="579260" y="66630"/>
                    <a:pt x="588049" y="75420"/>
                    <a:pt x="588049" y="86478"/>
                  </a:cubicBezTo>
                  <a:lnTo>
                    <a:pt x="588049" y="4281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3"/>
            <p:cNvSpPr/>
            <p:nvPr/>
          </p:nvSpPr>
          <p:spPr>
            <a:xfrm>
              <a:off x="3732139" y="3143501"/>
              <a:ext cx="122234" cy="42509"/>
            </a:xfrm>
            <a:custGeom>
              <a:rect b="b" l="l" r="r" t="t"/>
              <a:pathLst>
                <a:path extrusionOk="0" h="119744" w="344322">
                  <a:moveTo>
                    <a:pt x="288164" y="9167"/>
                  </a:moveTo>
                  <a:cubicBezTo>
                    <a:pt x="224936" y="68425"/>
                    <a:pt x="124565" y="68142"/>
                    <a:pt x="54816" y="8033"/>
                  </a:cubicBezTo>
                  <a:cubicBezTo>
                    <a:pt x="40922" y="-3876"/>
                    <a:pt x="19941" y="-2458"/>
                    <a:pt x="8033" y="11718"/>
                  </a:cubicBezTo>
                  <a:cubicBezTo>
                    <a:pt x="-3876" y="25612"/>
                    <a:pt x="-2458" y="46593"/>
                    <a:pt x="11718" y="58501"/>
                  </a:cubicBezTo>
                  <a:cubicBezTo>
                    <a:pt x="57651" y="97913"/>
                    <a:pt x="115775" y="119745"/>
                    <a:pt x="174750" y="119745"/>
                  </a:cubicBezTo>
                  <a:lnTo>
                    <a:pt x="175601" y="119745"/>
                  </a:lnTo>
                  <a:cubicBezTo>
                    <a:pt x="235143" y="119745"/>
                    <a:pt x="291283" y="97346"/>
                    <a:pt x="333813" y="57651"/>
                  </a:cubicBezTo>
                  <a:cubicBezTo>
                    <a:pt x="347139" y="44892"/>
                    <a:pt x="347990" y="23910"/>
                    <a:pt x="335231" y="10868"/>
                  </a:cubicBezTo>
                  <a:cubicBezTo>
                    <a:pt x="322755" y="-2742"/>
                    <a:pt x="301774" y="-3309"/>
                    <a:pt x="288447" y="91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3"/>
            <p:cNvSpPr/>
            <p:nvPr/>
          </p:nvSpPr>
          <p:spPr>
            <a:xfrm>
              <a:off x="3810071" y="3100971"/>
              <a:ext cx="28284" cy="28284"/>
            </a:xfrm>
            <a:custGeom>
              <a:rect b="b" l="l" r="r" t="t"/>
              <a:pathLst>
                <a:path extrusionOk="0" h="79672" w="79673">
                  <a:moveTo>
                    <a:pt x="39837" y="79673"/>
                  </a:moveTo>
                  <a:lnTo>
                    <a:pt x="39837" y="79673"/>
                  </a:lnTo>
                  <a:cubicBezTo>
                    <a:pt x="54297" y="79673"/>
                    <a:pt x="67056" y="72301"/>
                    <a:pt x="74144" y="60109"/>
                  </a:cubicBezTo>
                  <a:cubicBezTo>
                    <a:pt x="81516" y="47350"/>
                    <a:pt x="81516" y="32039"/>
                    <a:pt x="74144" y="19564"/>
                  </a:cubicBezTo>
                  <a:cubicBezTo>
                    <a:pt x="67056" y="7372"/>
                    <a:pt x="54297" y="0"/>
                    <a:pt x="39837" y="0"/>
                  </a:cubicBezTo>
                  <a:lnTo>
                    <a:pt x="39837" y="0"/>
                  </a:lnTo>
                  <a:cubicBezTo>
                    <a:pt x="25376" y="0"/>
                    <a:pt x="12617" y="7372"/>
                    <a:pt x="5529" y="19564"/>
                  </a:cubicBezTo>
                  <a:cubicBezTo>
                    <a:pt x="-1843" y="32323"/>
                    <a:pt x="-1843" y="47634"/>
                    <a:pt x="5529" y="60109"/>
                  </a:cubicBezTo>
                  <a:cubicBezTo>
                    <a:pt x="12617" y="72301"/>
                    <a:pt x="25660" y="79673"/>
                    <a:pt x="39837" y="79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3"/>
            <p:cNvSpPr/>
            <p:nvPr/>
          </p:nvSpPr>
          <p:spPr>
            <a:xfrm>
              <a:off x="3748904" y="3100971"/>
              <a:ext cx="28284" cy="28284"/>
            </a:xfrm>
            <a:custGeom>
              <a:rect b="b" l="l" r="r" t="t"/>
              <a:pathLst>
                <a:path extrusionOk="0" h="79672" w="79673">
                  <a:moveTo>
                    <a:pt x="39837" y="79673"/>
                  </a:moveTo>
                  <a:lnTo>
                    <a:pt x="39837" y="79673"/>
                  </a:lnTo>
                  <a:cubicBezTo>
                    <a:pt x="54297" y="79673"/>
                    <a:pt x="67056" y="72301"/>
                    <a:pt x="74144" y="60109"/>
                  </a:cubicBezTo>
                  <a:cubicBezTo>
                    <a:pt x="81516" y="47350"/>
                    <a:pt x="81516" y="32039"/>
                    <a:pt x="74144" y="19564"/>
                  </a:cubicBezTo>
                  <a:cubicBezTo>
                    <a:pt x="67056" y="7372"/>
                    <a:pt x="54297" y="0"/>
                    <a:pt x="39837" y="0"/>
                  </a:cubicBezTo>
                  <a:lnTo>
                    <a:pt x="39837" y="0"/>
                  </a:lnTo>
                  <a:cubicBezTo>
                    <a:pt x="25376" y="0"/>
                    <a:pt x="12617" y="7372"/>
                    <a:pt x="5529" y="19564"/>
                  </a:cubicBezTo>
                  <a:cubicBezTo>
                    <a:pt x="-1843" y="32323"/>
                    <a:pt x="-1843" y="47634"/>
                    <a:pt x="5529" y="60109"/>
                  </a:cubicBezTo>
                  <a:cubicBezTo>
                    <a:pt x="12617" y="72301"/>
                    <a:pt x="25660" y="79673"/>
                    <a:pt x="39837" y="79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3"/>
          <p:cNvSpPr/>
          <p:nvPr/>
        </p:nvSpPr>
        <p:spPr>
          <a:xfrm>
            <a:off x="6335949" y="1281927"/>
            <a:ext cx="228895" cy="222245"/>
          </a:xfrm>
          <a:custGeom>
            <a:rect b="b" l="l" r="r" t="t"/>
            <a:pathLst>
              <a:path extrusionOk="0" h="626042" w="644775">
                <a:moveTo>
                  <a:pt x="425301" y="280415"/>
                </a:moveTo>
                <a:lnTo>
                  <a:pt x="552891" y="280415"/>
                </a:lnTo>
                <a:cubicBezTo>
                  <a:pt x="593153" y="280415"/>
                  <a:pt x="626043" y="247525"/>
                  <a:pt x="626043" y="207263"/>
                </a:cubicBezTo>
                <a:lnTo>
                  <a:pt x="626043" y="79673"/>
                </a:lnTo>
                <a:cubicBezTo>
                  <a:pt x="626043" y="39411"/>
                  <a:pt x="593153" y="6521"/>
                  <a:pt x="552891" y="6521"/>
                </a:cubicBezTo>
                <a:lnTo>
                  <a:pt x="425301" y="6521"/>
                </a:lnTo>
                <a:cubicBezTo>
                  <a:pt x="385039" y="6521"/>
                  <a:pt x="352149" y="39411"/>
                  <a:pt x="352149" y="79673"/>
                </a:cubicBezTo>
                <a:lnTo>
                  <a:pt x="352149" y="207263"/>
                </a:lnTo>
                <a:cubicBezTo>
                  <a:pt x="352149" y="247525"/>
                  <a:pt x="385039" y="280415"/>
                  <a:pt x="425301" y="280415"/>
                </a:cubicBezTo>
                <a:close/>
                <a:moveTo>
                  <a:pt x="418779" y="79673"/>
                </a:moveTo>
                <a:cubicBezTo>
                  <a:pt x="418779" y="75987"/>
                  <a:pt x="421898" y="73152"/>
                  <a:pt x="425301" y="73152"/>
                </a:cubicBezTo>
                <a:lnTo>
                  <a:pt x="552891" y="73152"/>
                </a:lnTo>
                <a:cubicBezTo>
                  <a:pt x="556577" y="73152"/>
                  <a:pt x="559412" y="76271"/>
                  <a:pt x="559412" y="79673"/>
                </a:cubicBezTo>
                <a:lnTo>
                  <a:pt x="559412" y="207263"/>
                </a:lnTo>
                <a:cubicBezTo>
                  <a:pt x="559412" y="210949"/>
                  <a:pt x="556293" y="213784"/>
                  <a:pt x="552891" y="213784"/>
                </a:cubicBezTo>
                <a:lnTo>
                  <a:pt x="425301" y="213784"/>
                </a:lnTo>
                <a:cubicBezTo>
                  <a:pt x="421615" y="213784"/>
                  <a:pt x="418779" y="210666"/>
                  <a:pt x="418779" y="207263"/>
                </a:cubicBezTo>
                <a:lnTo>
                  <a:pt x="418779" y="79673"/>
                </a:lnTo>
                <a:close/>
                <a:moveTo>
                  <a:pt x="204711" y="352149"/>
                </a:moveTo>
                <a:lnTo>
                  <a:pt x="77121" y="352149"/>
                </a:lnTo>
                <a:cubicBezTo>
                  <a:pt x="36859" y="352149"/>
                  <a:pt x="3969" y="385039"/>
                  <a:pt x="3969" y="425301"/>
                </a:cubicBezTo>
                <a:lnTo>
                  <a:pt x="3969" y="552891"/>
                </a:lnTo>
                <a:cubicBezTo>
                  <a:pt x="3969" y="593153"/>
                  <a:pt x="36859" y="626043"/>
                  <a:pt x="77121" y="626043"/>
                </a:cubicBezTo>
                <a:lnTo>
                  <a:pt x="204711" y="626043"/>
                </a:lnTo>
                <a:cubicBezTo>
                  <a:pt x="244973" y="626043"/>
                  <a:pt x="277863" y="593153"/>
                  <a:pt x="277863" y="552891"/>
                </a:cubicBezTo>
                <a:lnTo>
                  <a:pt x="277863" y="425301"/>
                </a:lnTo>
                <a:cubicBezTo>
                  <a:pt x="277863" y="385039"/>
                  <a:pt x="244973" y="352149"/>
                  <a:pt x="204711" y="352149"/>
                </a:cubicBezTo>
                <a:close/>
                <a:moveTo>
                  <a:pt x="211516" y="552891"/>
                </a:moveTo>
                <a:cubicBezTo>
                  <a:pt x="211516" y="556577"/>
                  <a:pt x="208681" y="559412"/>
                  <a:pt x="204995" y="559412"/>
                </a:cubicBezTo>
                <a:lnTo>
                  <a:pt x="77405" y="559412"/>
                </a:lnTo>
                <a:cubicBezTo>
                  <a:pt x="73719" y="559412"/>
                  <a:pt x="70883" y="556577"/>
                  <a:pt x="70883" y="552891"/>
                </a:cubicBezTo>
                <a:lnTo>
                  <a:pt x="70883" y="425301"/>
                </a:lnTo>
                <a:cubicBezTo>
                  <a:pt x="70883" y="421615"/>
                  <a:pt x="74002" y="418779"/>
                  <a:pt x="77405" y="418779"/>
                </a:cubicBezTo>
                <a:lnTo>
                  <a:pt x="204995" y="418779"/>
                </a:lnTo>
                <a:cubicBezTo>
                  <a:pt x="208681" y="418779"/>
                  <a:pt x="211516" y="421898"/>
                  <a:pt x="211516" y="425301"/>
                </a:cubicBezTo>
                <a:lnTo>
                  <a:pt x="211516" y="552891"/>
                </a:lnTo>
                <a:close/>
                <a:moveTo>
                  <a:pt x="143468" y="0"/>
                </a:moveTo>
                <a:cubicBezTo>
                  <a:pt x="64362" y="0"/>
                  <a:pt x="0" y="64362"/>
                  <a:pt x="0" y="143468"/>
                </a:cubicBezTo>
                <a:cubicBezTo>
                  <a:pt x="0" y="222574"/>
                  <a:pt x="64362" y="286936"/>
                  <a:pt x="143468" y="286936"/>
                </a:cubicBezTo>
                <a:cubicBezTo>
                  <a:pt x="222574" y="286936"/>
                  <a:pt x="286936" y="222574"/>
                  <a:pt x="286936" y="143468"/>
                </a:cubicBezTo>
                <a:cubicBezTo>
                  <a:pt x="286936" y="64362"/>
                  <a:pt x="222574" y="0"/>
                  <a:pt x="143468" y="0"/>
                </a:cubicBezTo>
                <a:close/>
                <a:moveTo>
                  <a:pt x="143468" y="220589"/>
                </a:moveTo>
                <a:cubicBezTo>
                  <a:pt x="100938" y="220589"/>
                  <a:pt x="66347" y="185998"/>
                  <a:pt x="66347" y="143468"/>
                </a:cubicBezTo>
                <a:cubicBezTo>
                  <a:pt x="66347" y="100938"/>
                  <a:pt x="100938" y="66347"/>
                  <a:pt x="143468" y="66347"/>
                </a:cubicBezTo>
                <a:cubicBezTo>
                  <a:pt x="185998" y="66347"/>
                  <a:pt x="220589" y="100938"/>
                  <a:pt x="220589" y="143468"/>
                </a:cubicBezTo>
                <a:cubicBezTo>
                  <a:pt x="220589" y="185998"/>
                  <a:pt x="185998" y="220589"/>
                  <a:pt x="143468" y="220589"/>
                </a:cubicBezTo>
                <a:close/>
                <a:moveTo>
                  <a:pt x="634265" y="518583"/>
                </a:moveTo>
                <a:lnTo>
                  <a:pt x="544952" y="374548"/>
                </a:lnTo>
                <a:cubicBezTo>
                  <a:pt x="532477" y="354701"/>
                  <a:pt x="511211" y="342792"/>
                  <a:pt x="487678" y="342792"/>
                </a:cubicBezTo>
                <a:cubicBezTo>
                  <a:pt x="464145" y="342792"/>
                  <a:pt x="442880" y="354701"/>
                  <a:pt x="430404" y="374548"/>
                </a:cubicBezTo>
                <a:lnTo>
                  <a:pt x="341091" y="518583"/>
                </a:lnTo>
                <a:cubicBezTo>
                  <a:pt x="328048" y="539565"/>
                  <a:pt x="327481" y="565650"/>
                  <a:pt x="339390" y="587199"/>
                </a:cubicBezTo>
                <a:cubicBezTo>
                  <a:pt x="351298" y="608464"/>
                  <a:pt x="373697" y="621790"/>
                  <a:pt x="398365" y="621790"/>
                </a:cubicBezTo>
                <a:lnTo>
                  <a:pt x="577275" y="621790"/>
                </a:lnTo>
                <a:cubicBezTo>
                  <a:pt x="601659" y="621790"/>
                  <a:pt x="624341" y="608464"/>
                  <a:pt x="636250" y="587199"/>
                </a:cubicBezTo>
                <a:cubicBezTo>
                  <a:pt x="648158" y="565650"/>
                  <a:pt x="647591" y="539281"/>
                  <a:pt x="634548" y="518583"/>
                </a:cubicBezTo>
                <a:close/>
                <a:moveTo>
                  <a:pt x="577558" y="555443"/>
                </a:moveTo>
                <a:cubicBezTo>
                  <a:pt x="577558" y="555443"/>
                  <a:pt x="577558" y="555443"/>
                  <a:pt x="577275" y="555443"/>
                </a:cubicBezTo>
                <a:lnTo>
                  <a:pt x="398081" y="555443"/>
                </a:lnTo>
                <a:cubicBezTo>
                  <a:pt x="398081" y="555443"/>
                  <a:pt x="397798" y="553742"/>
                  <a:pt x="397798" y="553742"/>
                </a:cubicBezTo>
                <a:lnTo>
                  <a:pt x="487111" y="409706"/>
                </a:lnTo>
                <a:lnTo>
                  <a:pt x="488529" y="409706"/>
                </a:lnTo>
                <a:lnTo>
                  <a:pt x="577842" y="553742"/>
                </a:lnTo>
                <a:lnTo>
                  <a:pt x="577842" y="555443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3"/>
          <p:cNvSpPr txBox="1"/>
          <p:nvPr>
            <p:ph type="title"/>
          </p:nvPr>
        </p:nvSpPr>
        <p:spPr>
          <a:xfrm>
            <a:off x="342900" y="342900"/>
            <a:ext cx="845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Unbounded Black"/>
                <a:ea typeface="Unbounded Black"/>
                <a:cs typeface="Unbounded Black"/>
                <a:sym typeface="Unbounded Black"/>
              </a:rPr>
              <a:t>IDENTIFY: DIGITAL ASSETS</a:t>
            </a:r>
            <a:endParaRPr>
              <a:solidFill>
                <a:schemeClr val="lt2"/>
              </a:solidFill>
            </a:endParaRPr>
          </a:p>
        </p:txBody>
      </p:sp>
      <p:grpSp>
        <p:nvGrpSpPr>
          <p:cNvPr id="125" name="Google Shape;125;p23"/>
          <p:cNvGrpSpPr/>
          <p:nvPr/>
        </p:nvGrpSpPr>
        <p:grpSpPr>
          <a:xfrm>
            <a:off x="974146" y="1283990"/>
            <a:ext cx="232210" cy="218118"/>
            <a:chOff x="3676971" y="3049410"/>
            <a:chExt cx="232210" cy="218118"/>
          </a:xfrm>
        </p:grpSpPr>
        <p:sp>
          <p:nvSpPr>
            <p:cNvPr id="126" name="Google Shape;126;p23"/>
            <p:cNvSpPr/>
            <p:nvPr/>
          </p:nvSpPr>
          <p:spPr>
            <a:xfrm>
              <a:off x="3676971" y="3049410"/>
              <a:ext cx="232210" cy="218118"/>
            </a:xfrm>
            <a:custGeom>
              <a:rect b="b" l="l" r="r" t="t"/>
              <a:pathLst>
                <a:path extrusionOk="0" h="614417" w="654112">
                  <a:moveTo>
                    <a:pt x="567635" y="283"/>
                  </a:moveTo>
                  <a:lnTo>
                    <a:pt x="86478" y="283"/>
                  </a:lnTo>
                  <a:cubicBezTo>
                    <a:pt x="38844" y="283"/>
                    <a:pt x="0" y="39128"/>
                    <a:pt x="0" y="86761"/>
                  </a:cubicBezTo>
                  <a:lnTo>
                    <a:pt x="0" y="428419"/>
                  </a:lnTo>
                  <a:cubicBezTo>
                    <a:pt x="0" y="476053"/>
                    <a:pt x="38844" y="514897"/>
                    <a:pt x="86478" y="514897"/>
                  </a:cubicBezTo>
                  <a:lnTo>
                    <a:pt x="132977" y="514897"/>
                  </a:lnTo>
                  <a:lnTo>
                    <a:pt x="132977" y="581244"/>
                  </a:lnTo>
                  <a:cubicBezTo>
                    <a:pt x="132977" y="593436"/>
                    <a:pt x="139499" y="604494"/>
                    <a:pt x="149989" y="610165"/>
                  </a:cubicBezTo>
                  <a:cubicBezTo>
                    <a:pt x="155093" y="613000"/>
                    <a:pt x="160764" y="614418"/>
                    <a:pt x="166151" y="614418"/>
                  </a:cubicBezTo>
                  <a:cubicBezTo>
                    <a:pt x="172388" y="614418"/>
                    <a:pt x="178343" y="612716"/>
                    <a:pt x="183730" y="609314"/>
                  </a:cubicBezTo>
                  <a:lnTo>
                    <a:pt x="336555" y="514614"/>
                  </a:lnTo>
                  <a:lnTo>
                    <a:pt x="567635" y="514614"/>
                  </a:lnTo>
                  <a:cubicBezTo>
                    <a:pt x="615268" y="514614"/>
                    <a:pt x="654112" y="475770"/>
                    <a:pt x="654112" y="428136"/>
                  </a:cubicBezTo>
                  <a:lnTo>
                    <a:pt x="654112" y="86478"/>
                  </a:lnTo>
                  <a:cubicBezTo>
                    <a:pt x="654112" y="38844"/>
                    <a:pt x="615268" y="0"/>
                    <a:pt x="567635" y="0"/>
                  </a:cubicBezTo>
                  <a:close/>
                  <a:moveTo>
                    <a:pt x="587766" y="428136"/>
                  </a:moveTo>
                  <a:cubicBezTo>
                    <a:pt x="587766" y="439194"/>
                    <a:pt x="578976" y="447983"/>
                    <a:pt x="567918" y="447983"/>
                  </a:cubicBezTo>
                  <a:lnTo>
                    <a:pt x="327481" y="447983"/>
                  </a:lnTo>
                  <a:cubicBezTo>
                    <a:pt x="321244" y="447983"/>
                    <a:pt x="315289" y="449684"/>
                    <a:pt x="309902" y="453087"/>
                  </a:cubicBezTo>
                  <a:lnTo>
                    <a:pt x="199891" y="521135"/>
                  </a:lnTo>
                  <a:lnTo>
                    <a:pt x="199891" y="481157"/>
                  </a:lnTo>
                  <a:cubicBezTo>
                    <a:pt x="199891" y="462727"/>
                    <a:pt x="184864" y="447983"/>
                    <a:pt x="166718" y="447983"/>
                  </a:cubicBezTo>
                  <a:lnTo>
                    <a:pt x="87045" y="447983"/>
                  </a:lnTo>
                  <a:cubicBezTo>
                    <a:pt x="75987" y="447983"/>
                    <a:pt x="67197" y="439194"/>
                    <a:pt x="67197" y="428136"/>
                  </a:cubicBezTo>
                  <a:lnTo>
                    <a:pt x="67197" y="86478"/>
                  </a:lnTo>
                  <a:cubicBezTo>
                    <a:pt x="67197" y="75420"/>
                    <a:pt x="75987" y="66630"/>
                    <a:pt x="87045" y="66630"/>
                  </a:cubicBezTo>
                  <a:lnTo>
                    <a:pt x="568202" y="66630"/>
                  </a:lnTo>
                  <a:cubicBezTo>
                    <a:pt x="579260" y="66630"/>
                    <a:pt x="588049" y="75420"/>
                    <a:pt x="588049" y="86478"/>
                  </a:cubicBezTo>
                  <a:lnTo>
                    <a:pt x="588049" y="4281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3"/>
            <p:cNvSpPr/>
            <p:nvPr/>
          </p:nvSpPr>
          <p:spPr>
            <a:xfrm>
              <a:off x="3732139" y="3143501"/>
              <a:ext cx="122234" cy="42509"/>
            </a:xfrm>
            <a:custGeom>
              <a:rect b="b" l="l" r="r" t="t"/>
              <a:pathLst>
                <a:path extrusionOk="0" h="119744" w="344322">
                  <a:moveTo>
                    <a:pt x="288164" y="9167"/>
                  </a:moveTo>
                  <a:cubicBezTo>
                    <a:pt x="224936" y="68425"/>
                    <a:pt x="124565" y="68142"/>
                    <a:pt x="54816" y="8033"/>
                  </a:cubicBezTo>
                  <a:cubicBezTo>
                    <a:pt x="40922" y="-3876"/>
                    <a:pt x="19941" y="-2458"/>
                    <a:pt x="8033" y="11718"/>
                  </a:cubicBezTo>
                  <a:cubicBezTo>
                    <a:pt x="-3876" y="25612"/>
                    <a:pt x="-2458" y="46593"/>
                    <a:pt x="11718" y="58501"/>
                  </a:cubicBezTo>
                  <a:cubicBezTo>
                    <a:pt x="57651" y="97913"/>
                    <a:pt x="115775" y="119745"/>
                    <a:pt x="174750" y="119745"/>
                  </a:cubicBezTo>
                  <a:lnTo>
                    <a:pt x="175601" y="119745"/>
                  </a:lnTo>
                  <a:cubicBezTo>
                    <a:pt x="235143" y="119745"/>
                    <a:pt x="291283" y="97346"/>
                    <a:pt x="333813" y="57651"/>
                  </a:cubicBezTo>
                  <a:cubicBezTo>
                    <a:pt x="347139" y="44892"/>
                    <a:pt x="347990" y="23910"/>
                    <a:pt x="335231" y="10868"/>
                  </a:cubicBezTo>
                  <a:cubicBezTo>
                    <a:pt x="322755" y="-2742"/>
                    <a:pt x="301774" y="-3309"/>
                    <a:pt x="288447" y="91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3"/>
            <p:cNvSpPr/>
            <p:nvPr/>
          </p:nvSpPr>
          <p:spPr>
            <a:xfrm>
              <a:off x="3810071" y="3100971"/>
              <a:ext cx="28284" cy="28284"/>
            </a:xfrm>
            <a:custGeom>
              <a:rect b="b" l="l" r="r" t="t"/>
              <a:pathLst>
                <a:path extrusionOk="0" h="79672" w="79673">
                  <a:moveTo>
                    <a:pt x="39837" y="79673"/>
                  </a:moveTo>
                  <a:lnTo>
                    <a:pt x="39837" y="79673"/>
                  </a:lnTo>
                  <a:cubicBezTo>
                    <a:pt x="54297" y="79673"/>
                    <a:pt x="67056" y="72301"/>
                    <a:pt x="74144" y="60109"/>
                  </a:cubicBezTo>
                  <a:cubicBezTo>
                    <a:pt x="81516" y="47350"/>
                    <a:pt x="81516" y="32039"/>
                    <a:pt x="74144" y="19564"/>
                  </a:cubicBezTo>
                  <a:cubicBezTo>
                    <a:pt x="67056" y="7372"/>
                    <a:pt x="54297" y="0"/>
                    <a:pt x="39837" y="0"/>
                  </a:cubicBezTo>
                  <a:lnTo>
                    <a:pt x="39837" y="0"/>
                  </a:lnTo>
                  <a:cubicBezTo>
                    <a:pt x="25376" y="0"/>
                    <a:pt x="12617" y="7372"/>
                    <a:pt x="5529" y="19564"/>
                  </a:cubicBezTo>
                  <a:cubicBezTo>
                    <a:pt x="-1843" y="32323"/>
                    <a:pt x="-1843" y="47634"/>
                    <a:pt x="5529" y="60109"/>
                  </a:cubicBezTo>
                  <a:cubicBezTo>
                    <a:pt x="12617" y="72301"/>
                    <a:pt x="25660" y="79673"/>
                    <a:pt x="39837" y="79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23"/>
            <p:cNvSpPr/>
            <p:nvPr/>
          </p:nvSpPr>
          <p:spPr>
            <a:xfrm>
              <a:off x="3748904" y="3100971"/>
              <a:ext cx="28284" cy="28284"/>
            </a:xfrm>
            <a:custGeom>
              <a:rect b="b" l="l" r="r" t="t"/>
              <a:pathLst>
                <a:path extrusionOk="0" h="79672" w="79673">
                  <a:moveTo>
                    <a:pt x="39837" y="79673"/>
                  </a:moveTo>
                  <a:lnTo>
                    <a:pt x="39837" y="79673"/>
                  </a:lnTo>
                  <a:cubicBezTo>
                    <a:pt x="54297" y="79673"/>
                    <a:pt x="67056" y="72301"/>
                    <a:pt x="74144" y="60109"/>
                  </a:cubicBezTo>
                  <a:cubicBezTo>
                    <a:pt x="81516" y="47350"/>
                    <a:pt x="81516" y="32039"/>
                    <a:pt x="74144" y="19564"/>
                  </a:cubicBezTo>
                  <a:cubicBezTo>
                    <a:pt x="67056" y="7372"/>
                    <a:pt x="54297" y="0"/>
                    <a:pt x="39837" y="0"/>
                  </a:cubicBezTo>
                  <a:lnTo>
                    <a:pt x="39837" y="0"/>
                  </a:lnTo>
                  <a:cubicBezTo>
                    <a:pt x="25376" y="0"/>
                    <a:pt x="12617" y="7372"/>
                    <a:pt x="5529" y="19564"/>
                  </a:cubicBezTo>
                  <a:cubicBezTo>
                    <a:pt x="-1843" y="32323"/>
                    <a:pt x="-1843" y="47634"/>
                    <a:pt x="5529" y="60109"/>
                  </a:cubicBezTo>
                  <a:cubicBezTo>
                    <a:pt x="12617" y="72301"/>
                    <a:pt x="25660" y="79673"/>
                    <a:pt x="39837" y="79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" name="Google Shape;130;p23"/>
          <p:cNvSpPr/>
          <p:nvPr/>
        </p:nvSpPr>
        <p:spPr>
          <a:xfrm>
            <a:off x="7346350" y="1596650"/>
            <a:ext cx="1797600" cy="2873100"/>
          </a:xfrm>
          <a:prstGeom prst="roundRect">
            <a:avLst>
              <a:gd fmla="val 0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EHR (Electronic Health Record) system</a:t>
            </a:r>
            <a:endParaRPr b="1" sz="2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0" y="0"/>
            <a:ext cx="5433300" cy="6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Unbounded Black"/>
                <a:ea typeface="Unbounded Black"/>
                <a:cs typeface="Unbounded Black"/>
                <a:sym typeface="Unbounded Black"/>
              </a:rPr>
              <a:t>PROTECT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4"/>
          <p:cNvSpPr txBox="1"/>
          <p:nvPr>
            <p:ph idx="2" type="subTitle"/>
          </p:nvPr>
        </p:nvSpPr>
        <p:spPr>
          <a:xfrm>
            <a:off x="0" y="988675"/>
            <a:ext cx="4446900" cy="349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2"/>
                </a:solidFill>
              </a:rPr>
              <a:t>Protection Controls:</a:t>
            </a:r>
            <a:endParaRPr b="1" sz="1700">
              <a:solidFill>
                <a:schemeClr val="lt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Char char="●"/>
            </a:pPr>
            <a:r>
              <a:rPr b="1" lang="en" sz="1700">
                <a:solidFill>
                  <a:schemeClr val="lt2"/>
                </a:solidFill>
              </a:rPr>
              <a:t>Enable Multi‑Factor Authentication (MFA) on all accounts</a:t>
            </a:r>
            <a:endParaRPr b="1" sz="1700">
              <a:solidFill>
                <a:schemeClr val="lt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Char char="●"/>
            </a:pPr>
            <a:r>
              <a:rPr b="1" lang="en" sz="1700">
                <a:solidFill>
                  <a:schemeClr val="lt2"/>
                </a:solidFill>
              </a:rPr>
              <a:t>Encrypt all patient data at rest and in transit</a:t>
            </a:r>
            <a:endParaRPr b="1" sz="1700">
              <a:solidFill>
                <a:schemeClr val="lt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Char char="●"/>
            </a:pPr>
            <a:r>
              <a:rPr b="1" lang="en" sz="1700">
                <a:solidFill>
                  <a:schemeClr val="lt2"/>
                </a:solidFill>
              </a:rPr>
              <a:t>Conduct phishing‑awareness training every 6 months</a:t>
            </a:r>
            <a:endParaRPr b="1" sz="1700">
              <a:solidFill>
                <a:schemeClr val="lt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Char char="●"/>
            </a:pPr>
            <a:r>
              <a:rPr b="1" lang="en" sz="1700">
                <a:solidFill>
                  <a:schemeClr val="lt2"/>
                </a:solidFill>
              </a:rPr>
              <a:t>Restrict admin access to only 2 authorized users</a:t>
            </a:r>
            <a:endParaRPr b="1" sz="1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otect - Free of Charge Creative Commons Laptop image"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6750" y="382724"/>
            <a:ext cx="4544850" cy="3029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5" title="drone-delivery-futuristic-city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9037" l="744" r="1322" t="2712"/>
          <a:stretch/>
        </p:blipFill>
        <p:spPr>
          <a:xfrm>
            <a:off x="342900" y="3469850"/>
            <a:ext cx="8458200" cy="1330800"/>
          </a:xfrm>
          <a:prstGeom prst="roundRect">
            <a:avLst>
              <a:gd fmla="val 16667" name="adj"/>
            </a:avLst>
          </a:prstGeom>
        </p:spPr>
      </p:pic>
      <p:sp>
        <p:nvSpPr>
          <p:cNvPr id="143" name="Google Shape;143;p25"/>
          <p:cNvSpPr txBox="1"/>
          <p:nvPr>
            <p:ph type="title"/>
          </p:nvPr>
        </p:nvSpPr>
        <p:spPr>
          <a:xfrm>
            <a:off x="342900" y="342900"/>
            <a:ext cx="845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Unbounded Black"/>
                <a:ea typeface="Unbounded Black"/>
                <a:cs typeface="Unbounded Black"/>
                <a:sym typeface="Unbounded Black"/>
              </a:rPr>
              <a:t>DETECT</a:t>
            </a:r>
            <a:endParaRPr b="0">
              <a:solidFill>
                <a:schemeClr val="lt2"/>
              </a:solidFill>
            </a:endParaRPr>
          </a:p>
        </p:txBody>
      </p:sp>
      <p:sp>
        <p:nvSpPr>
          <p:cNvPr id="144" name="Google Shape;144;p25"/>
          <p:cNvSpPr txBox="1"/>
          <p:nvPr/>
        </p:nvSpPr>
        <p:spPr>
          <a:xfrm>
            <a:off x="78825" y="1040600"/>
            <a:ext cx="9144000" cy="27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Detection Methods:</a:t>
            </a:r>
            <a:endParaRPr sz="22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</a:pPr>
            <a:r>
              <a:rPr lang="en" sz="22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Install antivirus/EDR on all laptops</a:t>
            </a:r>
            <a:endParaRPr sz="22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</a:pPr>
            <a:r>
              <a:rPr lang="en" sz="22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Enable login alerts for after‑hours account access</a:t>
            </a:r>
            <a:endParaRPr sz="22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</a:pPr>
            <a:r>
              <a:rPr lang="en" sz="22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Use a SIEM tool (e.g., Splunk) to detect unusual network activity</a:t>
            </a:r>
            <a:endParaRPr sz="22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</a:pPr>
            <a:r>
              <a:rPr lang="en" sz="22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Review system logs weekly</a:t>
            </a:r>
            <a:endParaRPr sz="22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/>
          <p:nvPr/>
        </p:nvSpPr>
        <p:spPr>
          <a:xfrm>
            <a:off x="7381275" y="1296625"/>
            <a:ext cx="743400" cy="743400"/>
          </a:xfrm>
          <a:prstGeom prst="roundRect">
            <a:avLst>
              <a:gd fmla="val 0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0" name="Google Shape;150;p26"/>
          <p:cNvSpPr/>
          <p:nvPr/>
        </p:nvSpPr>
        <p:spPr>
          <a:xfrm>
            <a:off x="5689400" y="1296625"/>
            <a:ext cx="743400" cy="743400"/>
          </a:xfrm>
          <a:prstGeom prst="roundRect">
            <a:avLst>
              <a:gd fmla="val 0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1" name="Google Shape;151;p26"/>
          <p:cNvSpPr/>
          <p:nvPr/>
        </p:nvSpPr>
        <p:spPr>
          <a:xfrm>
            <a:off x="3966200" y="1286075"/>
            <a:ext cx="743400" cy="743400"/>
          </a:xfrm>
          <a:prstGeom prst="roundRect">
            <a:avLst>
              <a:gd fmla="val 0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2" name="Google Shape;152;p26"/>
          <p:cNvSpPr/>
          <p:nvPr/>
        </p:nvSpPr>
        <p:spPr>
          <a:xfrm>
            <a:off x="2279300" y="1296625"/>
            <a:ext cx="743400" cy="743400"/>
          </a:xfrm>
          <a:prstGeom prst="roundRect">
            <a:avLst>
              <a:gd fmla="val 0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3" name="Google Shape;153;p26"/>
          <p:cNvSpPr/>
          <p:nvPr/>
        </p:nvSpPr>
        <p:spPr>
          <a:xfrm>
            <a:off x="592400" y="1289350"/>
            <a:ext cx="743400" cy="743400"/>
          </a:xfrm>
          <a:prstGeom prst="roundRect">
            <a:avLst>
              <a:gd fmla="val 0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4" name="Google Shape;154;p26"/>
          <p:cNvSpPr txBox="1"/>
          <p:nvPr>
            <p:ph type="title"/>
          </p:nvPr>
        </p:nvSpPr>
        <p:spPr>
          <a:xfrm>
            <a:off x="349349" y="154925"/>
            <a:ext cx="818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Unbounded Black"/>
                <a:ea typeface="Unbounded Black"/>
                <a:cs typeface="Unbounded Black"/>
                <a:sym typeface="Unbounded Black"/>
              </a:rPr>
              <a:t>RESPOND</a:t>
            </a:r>
            <a:endParaRPr>
              <a:solidFill>
                <a:schemeClr val="lt2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</p:txBody>
      </p:sp>
      <p:sp>
        <p:nvSpPr>
          <p:cNvPr id="155" name="Google Shape;155;p26"/>
          <p:cNvSpPr/>
          <p:nvPr/>
        </p:nvSpPr>
        <p:spPr>
          <a:xfrm>
            <a:off x="612950" y="1306625"/>
            <a:ext cx="702300" cy="7023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01</a:t>
            </a:r>
            <a:endParaRPr>
              <a:solidFill>
                <a:schemeClr val="dk1"/>
              </a:solidFill>
              <a:latin typeface="Unbounded SemiBold"/>
              <a:ea typeface="Unbounded SemiBold"/>
              <a:cs typeface="Unbounded SemiBold"/>
              <a:sym typeface="Unbounded SemiBold"/>
            </a:endParaRPr>
          </a:p>
        </p:txBody>
      </p:sp>
      <p:sp>
        <p:nvSpPr>
          <p:cNvPr id="156" name="Google Shape;156;p26"/>
          <p:cNvSpPr/>
          <p:nvPr/>
        </p:nvSpPr>
        <p:spPr>
          <a:xfrm>
            <a:off x="2274302" y="1296613"/>
            <a:ext cx="743400" cy="74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02</a:t>
            </a:r>
            <a:endParaRPr sz="1500">
              <a:solidFill>
                <a:schemeClr val="dk1"/>
              </a:solidFill>
              <a:latin typeface="Unbounded SemiBold"/>
              <a:ea typeface="Unbounded SemiBold"/>
              <a:cs typeface="Unbounded SemiBold"/>
              <a:sym typeface="Unbounded SemiBold"/>
            </a:endParaRPr>
          </a:p>
        </p:txBody>
      </p:sp>
      <p:sp>
        <p:nvSpPr>
          <p:cNvPr id="157" name="Google Shape;157;p26"/>
          <p:cNvSpPr/>
          <p:nvPr/>
        </p:nvSpPr>
        <p:spPr>
          <a:xfrm>
            <a:off x="3966202" y="1296600"/>
            <a:ext cx="743400" cy="74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03</a:t>
            </a:r>
            <a:endParaRPr sz="1500">
              <a:solidFill>
                <a:schemeClr val="dk1"/>
              </a:solidFill>
              <a:latin typeface="Unbounded SemiBold"/>
              <a:ea typeface="Unbounded SemiBold"/>
              <a:cs typeface="Unbounded SemiBold"/>
              <a:sym typeface="Unbounded SemiBold"/>
            </a:endParaRPr>
          </a:p>
        </p:txBody>
      </p:sp>
      <p:sp>
        <p:nvSpPr>
          <p:cNvPr id="158" name="Google Shape;158;p26"/>
          <p:cNvSpPr/>
          <p:nvPr/>
        </p:nvSpPr>
        <p:spPr>
          <a:xfrm>
            <a:off x="5689401" y="1296613"/>
            <a:ext cx="743400" cy="74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04</a:t>
            </a:r>
            <a:endParaRPr sz="1500">
              <a:solidFill>
                <a:schemeClr val="dk1"/>
              </a:solidFill>
              <a:latin typeface="Unbounded SemiBold"/>
              <a:ea typeface="Unbounded SemiBold"/>
              <a:cs typeface="Unbounded SemiBold"/>
              <a:sym typeface="Unbounded SemiBold"/>
            </a:endParaRPr>
          </a:p>
        </p:txBody>
      </p:sp>
      <p:sp>
        <p:nvSpPr>
          <p:cNvPr id="159" name="Google Shape;159;p26"/>
          <p:cNvSpPr/>
          <p:nvPr/>
        </p:nvSpPr>
        <p:spPr>
          <a:xfrm>
            <a:off x="7381277" y="1296613"/>
            <a:ext cx="743400" cy="74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05</a:t>
            </a:r>
            <a:endParaRPr sz="1500">
              <a:solidFill>
                <a:schemeClr val="dk1"/>
              </a:solidFill>
              <a:latin typeface="Unbounded SemiBold"/>
              <a:ea typeface="Unbounded SemiBold"/>
              <a:cs typeface="Unbounded SemiBold"/>
              <a:sym typeface="Unbounded SemiBold"/>
            </a:endParaRPr>
          </a:p>
        </p:txBody>
      </p:sp>
      <p:sp>
        <p:nvSpPr>
          <p:cNvPr id="160" name="Google Shape;160;p26"/>
          <p:cNvSpPr txBox="1"/>
          <p:nvPr/>
        </p:nvSpPr>
        <p:spPr>
          <a:xfrm>
            <a:off x="465725" y="2138602"/>
            <a:ext cx="15897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STEP 1</a:t>
            </a:r>
            <a:endParaRPr b="1" sz="1300"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161" name="Google Shape;161;p26"/>
          <p:cNvSpPr txBox="1"/>
          <p:nvPr/>
        </p:nvSpPr>
        <p:spPr>
          <a:xfrm>
            <a:off x="2175150" y="2138603"/>
            <a:ext cx="15897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STEP 2:</a:t>
            </a:r>
            <a:endParaRPr b="1"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162" name="Google Shape;162;p26"/>
          <p:cNvSpPr txBox="1"/>
          <p:nvPr/>
        </p:nvSpPr>
        <p:spPr>
          <a:xfrm>
            <a:off x="3884600" y="2138604"/>
            <a:ext cx="15897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rPr>
              <a:t>STEP 3</a:t>
            </a:r>
            <a:endParaRPr b="1"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163" name="Google Shape;163;p26"/>
          <p:cNvSpPr txBox="1"/>
          <p:nvPr/>
        </p:nvSpPr>
        <p:spPr>
          <a:xfrm>
            <a:off x="5593550" y="2138603"/>
            <a:ext cx="15897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STEP 4</a:t>
            </a:r>
            <a:endParaRPr b="1"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164" name="Google Shape;164;p26"/>
          <p:cNvSpPr txBox="1"/>
          <p:nvPr/>
        </p:nvSpPr>
        <p:spPr>
          <a:xfrm>
            <a:off x="7303000" y="2138604"/>
            <a:ext cx="15897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STEP 5</a:t>
            </a:r>
            <a:endParaRPr b="1"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cxnSp>
        <p:nvCxnSpPr>
          <p:cNvPr id="165" name="Google Shape;165;p26"/>
          <p:cNvCxnSpPr>
            <a:stCxn id="166" idx="2"/>
          </p:cNvCxnSpPr>
          <p:nvPr/>
        </p:nvCxnSpPr>
        <p:spPr>
          <a:xfrm>
            <a:off x="543689" y="3073750"/>
            <a:ext cx="831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67" name="Google Shape;167;p26"/>
          <p:cNvSpPr txBox="1"/>
          <p:nvPr/>
        </p:nvSpPr>
        <p:spPr>
          <a:xfrm>
            <a:off x="2174175" y="3183125"/>
            <a:ext cx="1416600" cy="18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Notify IT manager and clinic director within 1 hour</a:t>
            </a:r>
            <a:r>
              <a:rPr lang="en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8" name="Google Shape;168;p26"/>
          <p:cNvSpPr txBox="1"/>
          <p:nvPr/>
        </p:nvSpPr>
        <p:spPr>
          <a:xfrm>
            <a:off x="3883625" y="3183125"/>
            <a:ext cx="16503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Contact cybersecurity incident response team.</a:t>
            </a:r>
            <a:endParaRPr sz="17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9" name="Google Shape;169;p26"/>
          <p:cNvSpPr txBox="1"/>
          <p:nvPr/>
        </p:nvSpPr>
        <p:spPr>
          <a:xfrm>
            <a:off x="5593551" y="3183125"/>
            <a:ext cx="1787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Do not pay ransom.</a:t>
            </a:r>
            <a:endParaRPr sz="19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0" name="Google Shape;170;p26"/>
          <p:cNvSpPr txBox="1"/>
          <p:nvPr/>
        </p:nvSpPr>
        <p:spPr>
          <a:xfrm>
            <a:off x="7303001" y="3183125"/>
            <a:ext cx="1787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Preserve logs as evidence.</a:t>
            </a:r>
            <a:endParaRPr sz="16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403525" y="3183125"/>
            <a:ext cx="12990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Disconnect infected machines from the network immediately.</a:t>
            </a:r>
            <a:endParaRPr sz="15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2" name="Google Shape;172;p26"/>
          <p:cNvSpPr/>
          <p:nvPr/>
        </p:nvSpPr>
        <p:spPr>
          <a:xfrm>
            <a:off x="2280625" y="3031750"/>
            <a:ext cx="82800" cy="8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6"/>
          <p:cNvSpPr/>
          <p:nvPr/>
        </p:nvSpPr>
        <p:spPr>
          <a:xfrm>
            <a:off x="3972525" y="3031738"/>
            <a:ext cx="82800" cy="8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6"/>
          <p:cNvSpPr/>
          <p:nvPr/>
        </p:nvSpPr>
        <p:spPr>
          <a:xfrm>
            <a:off x="5695700" y="3031738"/>
            <a:ext cx="82800" cy="8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6"/>
          <p:cNvSpPr/>
          <p:nvPr/>
        </p:nvSpPr>
        <p:spPr>
          <a:xfrm>
            <a:off x="7418875" y="3031738"/>
            <a:ext cx="82800" cy="8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6"/>
          <p:cNvSpPr txBox="1"/>
          <p:nvPr/>
        </p:nvSpPr>
        <p:spPr>
          <a:xfrm>
            <a:off x="264625" y="4793525"/>
            <a:ext cx="890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u="sng">
                <a:solidFill>
                  <a:schemeClr val="lt2"/>
                </a:solidFill>
                <a:latin typeface="Unbounded"/>
                <a:ea typeface="Unbounded"/>
                <a:cs typeface="Unbounded"/>
                <a:sym typeface="Unbounded"/>
              </a:rPr>
              <a:t>RESPONSE PLAN</a:t>
            </a:r>
            <a:endParaRPr b="1" i="1" u="sng">
              <a:solidFill>
                <a:schemeClr val="lt2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7" title="3d-rendering-futuristic-technologies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8862" l="0" r="0" t="8854"/>
          <a:stretch/>
        </p:blipFill>
        <p:spPr>
          <a:xfrm>
            <a:off x="0" y="0"/>
            <a:ext cx="4792673" cy="5143499"/>
          </a:xfrm>
          <a:prstGeom prst="rect">
            <a:avLst/>
          </a:prstGeom>
        </p:spPr>
      </p:pic>
      <p:sp>
        <p:nvSpPr>
          <p:cNvPr id="182" name="Google Shape;182;p27"/>
          <p:cNvSpPr txBox="1"/>
          <p:nvPr>
            <p:ph type="title"/>
          </p:nvPr>
        </p:nvSpPr>
        <p:spPr>
          <a:xfrm>
            <a:off x="228600" y="4549500"/>
            <a:ext cx="3658500" cy="3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RECOVER</a:t>
            </a:r>
            <a:endParaRPr b="1">
              <a:solidFill>
                <a:schemeClr val="lt2"/>
              </a:solidFill>
            </a:endParaRPr>
          </a:p>
        </p:txBody>
      </p:sp>
      <p:sp>
        <p:nvSpPr>
          <p:cNvPr id="183" name="Google Shape;183;p27"/>
          <p:cNvSpPr txBox="1"/>
          <p:nvPr/>
        </p:nvSpPr>
        <p:spPr>
          <a:xfrm>
            <a:off x="5891700" y="162900"/>
            <a:ext cx="244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2"/>
                </a:solidFill>
                <a:latin typeface="Unbounded"/>
                <a:ea typeface="Unbounded"/>
                <a:cs typeface="Unbounded"/>
                <a:sym typeface="Unbounded"/>
              </a:rPr>
              <a:t>RECOVER</a:t>
            </a:r>
            <a:endParaRPr b="1" sz="2200">
              <a:solidFill>
                <a:schemeClr val="lt2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4933325" y="954025"/>
            <a:ext cx="4021200" cy="4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Recovery Steps:</a:t>
            </a:r>
            <a:endParaRPr b="1" sz="16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300"/>
              <a:buChar char="●"/>
            </a:pPr>
            <a:r>
              <a:rPr b="1" lang="en" sz="16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Restore patient data from the most recent clean backup (daily)</a:t>
            </a:r>
            <a:endParaRPr b="1" sz="16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Char char="●"/>
            </a:pPr>
            <a:r>
              <a:rPr b="1" lang="en" sz="16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Rebuild infected servers or systems from a clean, verified image</a:t>
            </a:r>
            <a:endParaRPr b="1" sz="16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Char char="●"/>
            </a:pPr>
            <a:r>
              <a:rPr b="1" lang="en" sz="16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Notify affected patients per HIPAA breach‑notification rules (within 60 days)</a:t>
            </a:r>
            <a:endParaRPr b="1" sz="16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Char char="●"/>
            </a:pPr>
            <a:r>
              <a:rPr b="1" lang="en" sz="16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Conduct a post‑incident review and update policies</a:t>
            </a:r>
            <a:endParaRPr b="1" sz="16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8" title="robotic-arm-interacting-with-logistics-data-interface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4199" l="1395" r="1724" t="14555"/>
          <a:stretch/>
        </p:blipFill>
        <p:spPr>
          <a:xfrm>
            <a:off x="342900" y="342900"/>
            <a:ext cx="8443500" cy="3386100"/>
          </a:xfrm>
          <a:prstGeom prst="roundRect">
            <a:avLst>
              <a:gd fmla="val 0" name="adj"/>
            </a:avLst>
          </a:prstGeom>
        </p:spPr>
      </p:pic>
      <p:sp>
        <p:nvSpPr>
          <p:cNvPr id="190" name="Google Shape;190;p28"/>
          <p:cNvSpPr txBox="1"/>
          <p:nvPr>
            <p:ph type="title"/>
          </p:nvPr>
        </p:nvSpPr>
        <p:spPr>
          <a:xfrm>
            <a:off x="481475" y="342900"/>
            <a:ext cx="8546400" cy="87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nbounded Black"/>
                <a:ea typeface="Unbounded Black"/>
                <a:cs typeface="Unbounded Black"/>
                <a:sym typeface="Unbounded Black"/>
              </a:rPr>
              <a:t> </a:t>
            </a:r>
            <a:r>
              <a:rPr lang="en">
                <a:highlight>
                  <a:schemeClr val="lt1"/>
                </a:highlight>
                <a:latin typeface="Unbounded Black"/>
                <a:ea typeface="Unbounded Black"/>
                <a:cs typeface="Unbounded Black"/>
                <a:sym typeface="Unbounded Black"/>
              </a:rPr>
              <a:t>NIST</a:t>
            </a:r>
            <a:r>
              <a:rPr lang="en">
                <a:highlight>
                  <a:schemeClr val="lt1"/>
                </a:highlight>
              </a:rPr>
              <a:t> FRAMEWORK</a:t>
            </a:r>
            <a:r>
              <a:rPr lang="en">
                <a:solidFill>
                  <a:schemeClr val="lt1"/>
                </a:solidFill>
                <a:highlight>
                  <a:schemeClr val="lt1"/>
                </a:highlight>
              </a:rPr>
              <a:t>S</a:t>
            </a: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sp>
        <p:nvSpPr>
          <p:cNvPr id="191" name="Google Shape;191;p28"/>
          <p:cNvSpPr txBox="1"/>
          <p:nvPr/>
        </p:nvSpPr>
        <p:spPr>
          <a:xfrm>
            <a:off x="611350" y="3669625"/>
            <a:ext cx="7481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A flexible, industry‑recognized framework that helps organizations improve cybersecurity resilience using.</a:t>
            </a:r>
            <a:endParaRPr b="1" sz="16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2" name="Google Shape;192;p28"/>
          <p:cNvSpPr txBox="1"/>
          <p:nvPr/>
        </p:nvSpPr>
        <p:spPr>
          <a:xfrm>
            <a:off x="0" y="4346725"/>
            <a:ext cx="1479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FFFF"/>
                </a:solidFill>
                <a:latin typeface="Raleway"/>
                <a:ea typeface="Raleway"/>
                <a:cs typeface="Raleway"/>
                <a:sym typeface="Raleway"/>
              </a:rPr>
              <a:t>Identify</a:t>
            </a:r>
            <a:endParaRPr b="1" sz="1900">
              <a:solidFill>
                <a:srgbClr val="00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3" name="Google Shape;193;p28"/>
          <p:cNvSpPr txBox="1"/>
          <p:nvPr/>
        </p:nvSpPr>
        <p:spPr>
          <a:xfrm>
            <a:off x="1677275" y="4619650"/>
            <a:ext cx="147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1520550" y="4710575"/>
            <a:ext cx="206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Protect</a:t>
            </a:r>
            <a:endParaRPr b="1" sz="19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4183175" y="4301575"/>
            <a:ext cx="1350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Detect</a:t>
            </a:r>
            <a:endParaRPr b="1" sz="19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5819800" y="4619650"/>
            <a:ext cx="196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Respond</a:t>
            </a:r>
            <a:endParaRPr b="1" sz="18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7612225" y="4301575"/>
            <a:ext cx="159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Recover</a:t>
            </a:r>
            <a:endParaRPr b="1" sz="18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uture Technology Trends by Slidesgo">
  <a:themeElements>
    <a:clrScheme name="Simple Light">
      <a:dk1>
        <a:srgbClr val="FFFFFF"/>
      </a:dk1>
      <a:lt1>
        <a:srgbClr val="0B0F1A"/>
      </a:lt1>
      <a:dk2>
        <a:srgbClr val="FFFFFF"/>
      </a:dk2>
      <a:lt2>
        <a:srgbClr val="2DD4BF"/>
      </a:lt2>
      <a:accent1>
        <a:srgbClr val="2DD4B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